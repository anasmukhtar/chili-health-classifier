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58" d="100"/>
          <a:sy n="58" d="100"/>
        </p:scale>
        <p:origin x="78" y="9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1/30/2026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1"/>
            <a:ext cx="8825658" cy="1528156"/>
          </a:xfrm>
        </p:spPr>
        <p:txBody>
          <a:bodyPr/>
          <a:lstStyle/>
          <a:p>
            <a:r>
              <a:rPr lang="en-US" dirty="0"/>
              <a:t>Chili Leaf Health Classification</a:t>
            </a:r>
          </a:p>
        </p:txBody>
      </p:sp>
      <p:sp>
        <p:nvSpPr>
          <p:cNvPr id="3" name="Subtitle 2"/>
          <p:cNvSpPr>
            <a:spLocks noGrp="1"/>
          </p:cNvSpPr>
          <p:nvPr>
            <p:ph type="subTitle" idx="1"/>
          </p:nvPr>
        </p:nvSpPr>
        <p:spPr>
          <a:xfrm>
            <a:off x="1154955" y="2842953"/>
            <a:ext cx="8825658" cy="3524596"/>
          </a:xfrm>
        </p:spPr>
        <p:txBody>
          <a:bodyPr>
            <a:normAutofit lnSpcReduction="10000"/>
          </a:bodyPr>
          <a:lstStyle/>
          <a:p>
            <a:r>
              <a:rPr lang="en-US" sz="3200" b="1" dirty="0" err="1" smtClean="0">
                <a:solidFill>
                  <a:srgbClr val="FF0000"/>
                </a:solidFill>
              </a:rPr>
              <a:t>Anas</a:t>
            </a:r>
            <a:r>
              <a:rPr lang="en-US" sz="3200" b="1" dirty="0" smtClean="0">
                <a:solidFill>
                  <a:srgbClr val="FF0000"/>
                </a:solidFill>
              </a:rPr>
              <a:t> </a:t>
            </a:r>
            <a:r>
              <a:rPr lang="en-US" sz="3200" b="1" dirty="0" err="1" smtClean="0">
                <a:solidFill>
                  <a:srgbClr val="FF0000"/>
                </a:solidFill>
              </a:rPr>
              <a:t>mukhtar</a:t>
            </a:r>
            <a:r>
              <a:rPr lang="en-US" sz="3200" b="1" dirty="0" smtClean="0">
                <a:solidFill>
                  <a:srgbClr val="FF0000"/>
                </a:solidFill>
              </a:rPr>
              <a:t>      </a:t>
            </a:r>
          </a:p>
          <a:p>
            <a:r>
              <a:rPr lang="en-US" sz="3200" b="1" dirty="0" smtClean="0">
                <a:solidFill>
                  <a:srgbClr val="FF0000"/>
                </a:solidFill>
              </a:rPr>
              <a:t> 					su92-msaiw-f25-022</a:t>
            </a:r>
          </a:p>
          <a:p>
            <a:r>
              <a:rPr lang="en-US" sz="3200" b="1" dirty="0" smtClean="0">
                <a:solidFill>
                  <a:srgbClr val="FF0000"/>
                </a:solidFill>
              </a:rPr>
              <a:t>Muhammad </a:t>
            </a:r>
            <a:r>
              <a:rPr lang="en-US" sz="3200" b="1" dirty="0" err="1" smtClean="0">
                <a:solidFill>
                  <a:srgbClr val="FF0000"/>
                </a:solidFill>
              </a:rPr>
              <a:t>waleed</a:t>
            </a:r>
            <a:r>
              <a:rPr lang="en-US" sz="3200" b="1" dirty="0" smtClean="0">
                <a:solidFill>
                  <a:srgbClr val="FF0000"/>
                </a:solidFill>
              </a:rPr>
              <a:t> Iqbal</a:t>
            </a:r>
          </a:p>
          <a:p>
            <a:r>
              <a:rPr lang="en-US" sz="3200" b="1" dirty="0">
                <a:solidFill>
                  <a:srgbClr val="FF0000"/>
                </a:solidFill>
              </a:rPr>
              <a:t>	</a:t>
            </a:r>
            <a:r>
              <a:rPr lang="en-US" sz="3200" b="1" dirty="0" smtClean="0">
                <a:solidFill>
                  <a:srgbClr val="FF0000"/>
                </a:solidFill>
              </a:rPr>
              <a:t>				su92-msdsw-f25-023</a:t>
            </a:r>
          </a:p>
          <a:p>
            <a:endParaRPr lang="en-US" sz="3200" b="1" dirty="0">
              <a:solidFill>
                <a:srgbClr val="FF0000"/>
              </a:solidFill>
            </a:endParaRPr>
          </a:p>
          <a:p>
            <a:r>
              <a:rPr lang="en-US" sz="3200" b="1" dirty="0" smtClean="0">
                <a:solidFill>
                  <a:srgbClr val="FF0000"/>
                </a:solidFill>
              </a:rPr>
              <a:t>Superior university gold campus</a:t>
            </a:r>
            <a:endParaRPr lang="en-US" sz="3200" b="1" dirty="0">
              <a:solidFill>
                <a:srgbClr val="FF0000"/>
              </a:solidFill>
            </a:endParaRPr>
          </a:p>
        </p:txBody>
      </p:sp>
    </p:spTree>
    <p:extLst>
      <p:ext uri="{BB962C8B-B14F-4D97-AF65-F5344CB8AC3E}">
        <p14:creationId xmlns:p14="http://schemas.microsoft.com/office/powerpoint/2010/main" val="1394852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Agriculture forms the backbone of global food security and economic stability, with vegetable production playing a vital role in nutrition and commerce. Among vegetables, chili peppers (Capsicum species) hold particular significance due to their widespread cultivation, culinary importance, and economic value in both domestic and international markets. The quality of chili peppers directly impacts their market value, consumer acceptance, and suitability for food processing applications.</a:t>
            </a:r>
          </a:p>
          <a:p>
            <a:r>
              <a:rPr lang="en-US" dirty="0"/>
              <a:t>• Early detection improves yield</a:t>
            </a:r>
          </a:p>
          <a:p>
            <a:r>
              <a:rPr lang="en-US" dirty="0"/>
              <a:t>• Manual inspection is time-consuming</a:t>
            </a:r>
          </a:p>
          <a:p>
            <a:r>
              <a:rPr lang="en-US" dirty="0"/>
              <a:t>• Deep Learning provides automated solution</a:t>
            </a:r>
          </a:p>
          <a:p>
            <a:endParaRPr lang="en-US" dirty="0"/>
          </a:p>
        </p:txBody>
      </p:sp>
    </p:spTree>
    <p:extLst>
      <p:ext uri="{BB962C8B-B14F-4D97-AF65-F5344CB8AC3E}">
        <p14:creationId xmlns:p14="http://schemas.microsoft.com/office/powerpoint/2010/main" val="334489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p>
        </p:txBody>
      </p:sp>
      <p:sp>
        <p:nvSpPr>
          <p:cNvPr id="3" name="Content Placeholder 2"/>
          <p:cNvSpPr>
            <a:spLocks noGrp="1"/>
          </p:cNvSpPr>
          <p:nvPr>
            <p:ph idx="1"/>
          </p:nvPr>
        </p:nvSpPr>
        <p:spPr/>
        <p:txBody>
          <a:bodyPr/>
          <a:lstStyle/>
          <a:p>
            <a:r>
              <a:rPr lang="en-US" dirty="0"/>
              <a:t>• Classify chili as Healthy or Unhealthy</a:t>
            </a:r>
          </a:p>
          <a:p>
            <a:r>
              <a:rPr lang="en-US" dirty="0"/>
              <a:t>• Use image-based deep learning model</a:t>
            </a:r>
          </a:p>
          <a:p>
            <a:r>
              <a:rPr lang="en-US" dirty="0"/>
              <a:t>• Achieve reliable and practical accuracy</a:t>
            </a:r>
          </a:p>
          <a:p>
            <a:endParaRPr lang="en-US" dirty="0"/>
          </a:p>
        </p:txBody>
      </p:sp>
    </p:spTree>
    <p:extLst>
      <p:ext uri="{BB962C8B-B14F-4D97-AF65-F5344CB8AC3E}">
        <p14:creationId xmlns:p14="http://schemas.microsoft.com/office/powerpoint/2010/main" val="1462948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a:t>
            </a:r>
          </a:p>
        </p:txBody>
      </p:sp>
      <p:pic>
        <p:nvPicPr>
          <p:cNvPr id="4" name="Image 26"/>
          <p:cNvPicPr>
            <a:picLocks noGrp="1"/>
          </p:cNvPicPr>
          <p:nvPr>
            <p:ph idx="1"/>
          </p:nvPr>
        </p:nvPicPr>
        <p:blipFill>
          <a:blip r:embed="rId2" cstate="print"/>
          <a:stretch>
            <a:fillRect/>
          </a:stretch>
        </p:blipFill>
        <p:spPr>
          <a:xfrm>
            <a:off x="1006619" y="3183169"/>
            <a:ext cx="4928668" cy="2885122"/>
          </a:xfrm>
          <a:prstGeom prst="rect">
            <a:avLst/>
          </a:prstGeom>
        </p:spPr>
      </p:pic>
      <p:pic>
        <p:nvPicPr>
          <p:cNvPr id="5" name="Image 27"/>
          <p:cNvPicPr/>
          <p:nvPr/>
        </p:nvPicPr>
        <p:blipFill>
          <a:blip r:embed="rId3" cstate="print"/>
          <a:stretch>
            <a:fillRect/>
          </a:stretch>
        </p:blipFill>
        <p:spPr>
          <a:xfrm>
            <a:off x="6550429" y="3183169"/>
            <a:ext cx="5120640" cy="2885122"/>
          </a:xfrm>
          <a:prstGeom prst="rect">
            <a:avLst/>
          </a:prstGeom>
        </p:spPr>
      </p:pic>
      <p:sp>
        <p:nvSpPr>
          <p:cNvPr id="6" name="Rectangle 5"/>
          <p:cNvSpPr/>
          <p:nvPr/>
        </p:nvSpPr>
        <p:spPr>
          <a:xfrm>
            <a:off x="803564" y="1594877"/>
            <a:ext cx="6744392" cy="1200329"/>
          </a:xfrm>
          <a:prstGeom prst="rect">
            <a:avLst/>
          </a:prstGeom>
        </p:spPr>
        <p:txBody>
          <a:bodyPr wrap="square">
            <a:spAutoFit/>
          </a:bodyPr>
          <a:lstStyle/>
          <a:p>
            <a:r>
              <a:rPr lang="en-US" sz="2400" dirty="0">
                <a:solidFill>
                  <a:srgbClr val="FF0000"/>
                </a:solidFill>
              </a:rPr>
              <a:t>• Images of chili </a:t>
            </a:r>
          </a:p>
          <a:p>
            <a:r>
              <a:rPr lang="en-US" sz="2400" dirty="0">
                <a:solidFill>
                  <a:srgbClr val="FF0000"/>
                </a:solidFill>
              </a:rPr>
              <a:t>• Two classes: Healthy and Unhealthy</a:t>
            </a:r>
          </a:p>
          <a:p>
            <a:r>
              <a:rPr lang="en-US" sz="2400" dirty="0">
                <a:solidFill>
                  <a:srgbClr val="FF0000"/>
                </a:solidFill>
              </a:rPr>
              <a:t>• Data split into training and validation sets</a:t>
            </a:r>
            <a:endParaRPr lang="en-US" sz="2400" dirty="0">
              <a:solidFill>
                <a:srgbClr val="FF0000"/>
              </a:solidFill>
            </a:endParaRPr>
          </a:p>
        </p:txBody>
      </p:sp>
    </p:spTree>
    <p:extLst>
      <p:ext uri="{BB962C8B-B14F-4D97-AF65-F5344CB8AC3E}">
        <p14:creationId xmlns:p14="http://schemas.microsoft.com/office/powerpoint/2010/main" val="1051899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3" name="Content Placeholder 2"/>
          <p:cNvSpPr>
            <a:spLocks noGrp="1"/>
          </p:cNvSpPr>
          <p:nvPr>
            <p:ph idx="1"/>
          </p:nvPr>
        </p:nvSpPr>
        <p:spPr/>
        <p:txBody>
          <a:bodyPr/>
          <a:lstStyle/>
          <a:p>
            <a:r>
              <a:rPr lang="en-US" dirty="0"/>
              <a:t>Image preprocessing and augmentation</a:t>
            </a:r>
          </a:p>
          <a:p>
            <a:r>
              <a:rPr lang="en-US" dirty="0"/>
              <a:t>• MobileNetV2 </a:t>
            </a:r>
            <a:r>
              <a:rPr lang="en-US" dirty="0" err="1"/>
              <a:t>pretrained</a:t>
            </a:r>
            <a:r>
              <a:rPr lang="en-US" dirty="0"/>
              <a:t> model</a:t>
            </a:r>
          </a:p>
          <a:p>
            <a:r>
              <a:rPr lang="en-US" dirty="0"/>
              <a:t>• Transfer learning and fine-tuning</a:t>
            </a:r>
          </a:p>
          <a:p>
            <a:endParaRPr lang="en-US" dirty="0"/>
          </a:p>
        </p:txBody>
      </p:sp>
    </p:spTree>
    <p:extLst>
      <p:ext uri="{BB962C8B-B14F-4D97-AF65-F5344CB8AC3E}">
        <p14:creationId xmlns:p14="http://schemas.microsoft.com/office/powerpoint/2010/main" val="2059139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Architecture</a:t>
            </a:r>
          </a:p>
        </p:txBody>
      </p:sp>
      <p:sp>
        <p:nvSpPr>
          <p:cNvPr id="3" name="Content Placeholder 2"/>
          <p:cNvSpPr>
            <a:spLocks noGrp="1"/>
          </p:cNvSpPr>
          <p:nvPr>
            <p:ph idx="1"/>
          </p:nvPr>
        </p:nvSpPr>
        <p:spPr/>
        <p:txBody>
          <a:bodyPr/>
          <a:lstStyle/>
          <a:p>
            <a:r>
              <a:rPr lang="en-US" dirty="0"/>
              <a:t>MobileNetV2 as base model</a:t>
            </a:r>
          </a:p>
          <a:p>
            <a:r>
              <a:rPr lang="en-US" dirty="0"/>
              <a:t>• Dense layers with Dropout</a:t>
            </a:r>
          </a:p>
          <a:p>
            <a:r>
              <a:rPr lang="en-US" dirty="0"/>
              <a:t>• Sigmoid activation for binary classification</a:t>
            </a:r>
          </a:p>
          <a:p>
            <a:endParaRPr lang="en-US" dirty="0"/>
          </a:p>
        </p:txBody>
      </p:sp>
    </p:spTree>
    <p:extLst>
      <p:ext uri="{BB962C8B-B14F-4D97-AF65-F5344CB8AC3E}">
        <p14:creationId xmlns:p14="http://schemas.microsoft.com/office/powerpoint/2010/main" val="3949499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Training Process</a:t>
            </a:r>
          </a:p>
        </p:txBody>
      </p:sp>
      <p:sp>
        <p:nvSpPr>
          <p:cNvPr id="3" name="Content Placeholder 2"/>
          <p:cNvSpPr>
            <a:spLocks noGrp="1"/>
          </p:cNvSpPr>
          <p:nvPr>
            <p:ph idx="1"/>
          </p:nvPr>
        </p:nvSpPr>
        <p:spPr/>
        <p:txBody>
          <a:bodyPr/>
          <a:lstStyle/>
          <a:p>
            <a:r>
              <a:rPr lang="en-US" sz="2400" b="1" dirty="0" smtClean="0"/>
              <a:t>. </a:t>
            </a:r>
            <a:r>
              <a:rPr lang="en-US" dirty="0" smtClean="0"/>
              <a:t>Phase </a:t>
            </a:r>
            <a:r>
              <a:rPr lang="en-US" dirty="0"/>
              <a:t>1: Train top layers</a:t>
            </a:r>
          </a:p>
          <a:p>
            <a:r>
              <a:rPr lang="en-US" dirty="0"/>
              <a:t>• Phase 2: Fine-tuning</a:t>
            </a:r>
          </a:p>
          <a:p>
            <a:r>
              <a:rPr lang="en-US" dirty="0"/>
              <a:t>• Optimizer: Adam</a:t>
            </a:r>
          </a:p>
          <a:p>
            <a:r>
              <a:rPr lang="en-US" dirty="0"/>
              <a:t>• Loss: Binary </a:t>
            </a:r>
            <a:r>
              <a:rPr lang="en-US" dirty="0" err="1"/>
              <a:t>Crossentropy</a:t>
            </a:r>
            <a:endParaRPr lang="en-US" dirty="0"/>
          </a:p>
          <a:p>
            <a:endParaRPr lang="en-US" dirty="0"/>
          </a:p>
        </p:txBody>
      </p:sp>
    </p:spTree>
    <p:extLst>
      <p:ext uri="{BB962C8B-B14F-4D97-AF65-F5344CB8AC3E}">
        <p14:creationId xmlns:p14="http://schemas.microsoft.com/office/powerpoint/2010/main" val="1995535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3" name="Content Placeholder 2"/>
          <p:cNvSpPr>
            <a:spLocks noGrp="1"/>
          </p:cNvSpPr>
          <p:nvPr>
            <p:ph idx="1"/>
          </p:nvPr>
        </p:nvSpPr>
        <p:spPr/>
        <p:txBody>
          <a:bodyPr/>
          <a:lstStyle/>
          <a:p>
            <a:r>
              <a:rPr lang="en-US" dirty="0" smtClean="0"/>
              <a:t>• Good classification performance</a:t>
            </a:r>
          </a:p>
          <a:p>
            <a:r>
              <a:rPr lang="en-US" dirty="0" smtClean="0"/>
              <a:t>• Reduced false predictions</a:t>
            </a:r>
          </a:p>
          <a:p>
            <a:r>
              <a:rPr lang="en-US" dirty="0" smtClean="0"/>
              <a:t>• Evaluated using Accuracy and AUC</a:t>
            </a:r>
          </a:p>
          <a:p>
            <a:endParaRPr lang="en-US" dirty="0"/>
          </a:p>
        </p:txBody>
      </p:sp>
      <p:pic>
        <p:nvPicPr>
          <p:cNvPr id="4" name="Image 40"/>
          <p:cNvPicPr/>
          <p:nvPr/>
        </p:nvPicPr>
        <p:blipFill>
          <a:blip r:embed="rId2" cstate="print"/>
          <a:stretch>
            <a:fillRect/>
          </a:stretch>
        </p:blipFill>
        <p:spPr>
          <a:xfrm>
            <a:off x="1103312" y="3738130"/>
            <a:ext cx="3206750" cy="1543050"/>
          </a:xfrm>
          <a:prstGeom prst="rect">
            <a:avLst/>
          </a:prstGeom>
        </p:spPr>
      </p:pic>
      <p:sp>
        <p:nvSpPr>
          <p:cNvPr id="5" name="Rectangle 4"/>
          <p:cNvSpPr/>
          <p:nvPr/>
        </p:nvSpPr>
        <p:spPr>
          <a:xfrm>
            <a:off x="953192" y="5480850"/>
            <a:ext cx="6096000" cy="505267"/>
          </a:xfrm>
          <a:prstGeom prst="rect">
            <a:avLst/>
          </a:prstGeom>
        </p:spPr>
        <p:txBody>
          <a:bodyPr>
            <a:spAutoFit/>
          </a:bodyPr>
          <a:lstStyle/>
          <a:p>
            <a:pPr marL="1143000" lvl="2" indent="-228600">
              <a:lnSpc>
                <a:spcPts val="1300"/>
              </a:lnSpc>
              <a:buFont typeface="Symbol" panose="05050102010706020507" pitchFamily="18" charset="2"/>
              <a:buChar char=""/>
              <a:tabLst>
                <a:tab pos="685800" algn="l"/>
              </a:tabLst>
            </a:pPr>
            <a:r>
              <a:rPr lang="en-US" sz="1600" b="1"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RESULT:</a:t>
            </a:r>
            <a:r>
              <a:rPr lang="en-US" sz="1600" b="1" spc="-45"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 </a:t>
            </a:r>
            <a:r>
              <a:rPr lang="en-US" sz="1600" b="1" spc="-10"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healthy</a:t>
            </a:r>
            <a:endParaRPr lang="en-US" sz="2000" b="1" dirty="0">
              <a:solidFill>
                <a:srgbClr val="FF0000"/>
              </a:solidFill>
              <a:latin typeface="Times New Roman" panose="02020603050405020304" pitchFamily="18" charset="0"/>
              <a:ea typeface="Symbol" panose="05050102010706020507" pitchFamily="18" charset="2"/>
              <a:cs typeface="Symbol" panose="05050102010706020507" pitchFamily="18" charset="2"/>
            </a:endParaRPr>
          </a:p>
          <a:p>
            <a:pPr marL="1143000" marR="0" lvl="2" indent="-228600">
              <a:spcBef>
                <a:spcPts val="5"/>
              </a:spcBef>
              <a:spcAft>
                <a:spcPts val="0"/>
              </a:spcAft>
              <a:buFont typeface="Symbol" panose="05050102010706020507" pitchFamily="18" charset="2"/>
              <a:buChar char=""/>
              <a:tabLst>
                <a:tab pos="685800" algn="l"/>
              </a:tabLst>
            </a:pPr>
            <a:r>
              <a:rPr lang="en-US" sz="1600" b="1"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CONFIDENCE:</a:t>
            </a:r>
            <a:r>
              <a:rPr lang="en-US" sz="1600" b="1" spc="-70"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 </a:t>
            </a:r>
            <a:r>
              <a:rPr lang="en-US" sz="1600" b="1" spc="-10"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60.46%</a:t>
            </a:r>
            <a:endParaRPr lang="en-US" sz="2000" b="1" spc="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endParaRPr>
          </a:p>
        </p:txBody>
      </p:sp>
      <p:pic>
        <p:nvPicPr>
          <p:cNvPr id="6" name="Image 39"/>
          <p:cNvPicPr/>
          <p:nvPr/>
        </p:nvPicPr>
        <p:blipFill>
          <a:blip r:embed="rId3" cstate="print"/>
          <a:stretch>
            <a:fillRect/>
          </a:stretch>
        </p:blipFill>
        <p:spPr>
          <a:xfrm>
            <a:off x="6265082" y="3606485"/>
            <a:ext cx="3460809" cy="1673849"/>
          </a:xfrm>
          <a:prstGeom prst="rect">
            <a:avLst/>
          </a:prstGeom>
        </p:spPr>
      </p:pic>
      <p:sp>
        <p:nvSpPr>
          <p:cNvPr id="7" name="Rectangle 6"/>
          <p:cNvSpPr/>
          <p:nvPr/>
        </p:nvSpPr>
        <p:spPr>
          <a:xfrm>
            <a:off x="6096000" y="5480004"/>
            <a:ext cx="6096000" cy="523220"/>
          </a:xfrm>
          <a:prstGeom prst="rect">
            <a:avLst/>
          </a:prstGeom>
        </p:spPr>
        <p:txBody>
          <a:bodyPr>
            <a:spAutoFit/>
          </a:bodyPr>
          <a:lstStyle/>
          <a:p>
            <a:pPr marL="1143000" lvl="2" indent="-228600">
              <a:buFont typeface="Symbol" panose="05050102010706020507" pitchFamily="18" charset="2"/>
              <a:buChar char=""/>
              <a:tabLst>
                <a:tab pos="685800" algn="l"/>
              </a:tabLst>
            </a:pPr>
            <a:r>
              <a:rPr lang="en-US" sz="1400" b="1"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RESULT:</a:t>
            </a:r>
            <a:r>
              <a:rPr lang="en-US" sz="1400" b="1" spc="-45"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 </a:t>
            </a:r>
            <a:r>
              <a:rPr lang="en-US" sz="1400" b="1" spc="-10"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unhealthy</a:t>
            </a:r>
            <a:endParaRPr lang="en-US" b="1" dirty="0">
              <a:solidFill>
                <a:srgbClr val="FF0000"/>
              </a:solidFill>
              <a:latin typeface="Times New Roman" panose="02020603050405020304" pitchFamily="18" charset="0"/>
              <a:ea typeface="Symbol" panose="05050102010706020507" pitchFamily="18" charset="2"/>
              <a:cs typeface="Symbol" panose="05050102010706020507" pitchFamily="18" charset="2"/>
            </a:endParaRPr>
          </a:p>
          <a:p>
            <a:pPr marL="1143000" marR="0" lvl="2" indent="-228600">
              <a:spcBef>
                <a:spcPts val="5"/>
              </a:spcBef>
              <a:spcAft>
                <a:spcPts val="0"/>
              </a:spcAft>
              <a:buFont typeface="Symbol" panose="05050102010706020507" pitchFamily="18" charset="2"/>
              <a:buChar char=""/>
              <a:tabLst>
                <a:tab pos="685800" algn="l"/>
              </a:tabLst>
            </a:pPr>
            <a:r>
              <a:rPr lang="en-US" sz="1400" b="1"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CONFIDENCE:</a:t>
            </a:r>
            <a:r>
              <a:rPr lang="en-US" sz="1400" b="1" spc="-70"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 </a:t>
            </a:r>
            <a:r>
              <a:rPr lang="en-US" sz="1400" b="1" spc="-10" dirty="0">
                <a:solidFill>
                  <a:srgbClr val="FF0000"/>
                </a:solidFill>
                <a:latin typeface="Courier New" panose="02070309020205020404" pitchFamily="49" charset="0"/>
                <a:ea typeface="Symbol" panose="05050102010706020507" pitchFamily="18" charset="2"/>
                <a:cs typeface="Times New Roman" panose="02020603050405020304" pitchFamily="18" charset="0"/>
              </a:rPr>
              <a:t>50.01%</a:t>
            </a:r>
            <a:endParaRPr lang="en-US" b="1" spc="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endParaRPr>
          </a:p>
        </p:txBody>
      </p:sp>
    </p:spTree>
    <p:extLst>
      <p:ext uri="{BB962C8B-B14F-4D97-AF65-F5344CB8AC3E}">
        <p14:creationId xmlns:p14="http://schemas.microsoft.com/office/powerpoint/2010/main" val="2396325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dirty="0"/>
              <a:t>• Automated </a:t>
            </a:r>
            <a:r>
              <a:rPr lang="en-US" dirty="0" smtClean="0"/>
              <a:t>chili </a:t>
            </a:r>
            <a:r>
              <a:rPr lang="en-US" dirty="0"/>
              <a:t>classification achieved</a:t>
            </a:r>
          </a:p>
          <a:p>
            <a:r>
              <a:rPr lang="en-US" dirty="0"/>
              <a:t>• Deep learning effective for agriculture</a:t>
            </a:r>
          </a:p>
          <a:p>
            <a:r>
              <a:rPr lang="en-US" dirty="0"/>
              <a:t>• System helps farmers</a:t>
            </a:r>
          </a:p>
          <a:p>
            <a:endParaRPr lang="en-US" dirty="0"/>
          </a:p>
        </p:txBody>
      </p:sp>
    </p:spTree>
    <p:extLst>
      <p:ext uri="{BB962C8B-B14F-4D97-AF65-F5344CB8AC3E}">
        <p14:creationId xmlns:p14="http://schemas.microsoft.com/office/powerpoint/2010/main" val="2415925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Work</a:t>
            </a:r>
          </a:p>
        </p:txBody>
      </p:sp>
      <p:sp>
        <p:nvSpPr>
          <p:cNvPr id="3" name="Content Placeholder 2"/>
          <p:cNvSpPr>
            <a:spLocks noGrp="1"/>
          </p:cNvSpPr>
          <p:nvPr>
            <p:ph idx="1"/>
          </p:nvPr>
        </p:nvSpPr>
        <p:spPr/>
        <p:txBody>
          <a:bodyPr/>
          <a:lstStyle/>
          <a:p>
            <a:r>
              <a:rPr lang="en-US" dirty="0"/>
              <a:t>• Increase dataset size</a:t>
            </a:r>
          </a:p>
          <a:p>
            <a:r>
              <a:rPr lang="en-US" dirty="0"/>
              <a:t>• Multi-disease classification</a:t>
            </a:r>
          </a:p>
          <a:p>
            <a:r>
              <a:rPr lang="en-US" dirty="0"/>
              <a:t>• Mobile application development</a:t>
            </a:r>
          </a:p>
          <a:p>
            <a:endParaRPr lang="en-US" dirty="0"/>
          </a:p>
        </p:txBody>
      </p:sp>
    </p:spTree>
    <p:extLst>
      <p:ext uri="{BB962C8B-B14F-4D97-AF65-F5344CB8AC3E}">
        <p14:creationId xmlns:p14="http://schemas.microsoft.com/office/powerpoint/2010/main" val="1774936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9600" b="1" dirty="0">
                <a:solidFill>
                  <a:srgbClr val="FF0000"/>
                </a:solidFill>
                <a:latin typeface="Impact" panose="020B0806030902050204" pitchFamily="34" charset="0"/>
              </a:rPr>
              <a:t>Thank You</a:t>
            </a:r>
          </a:p>
        </p:txBody>
      </p:sp>
    </p:spTree>
    <p:extLst>
      <p:ext uri="{BB962C8B-B14F-4D97-AF65-F5344CB8AC3E}">
        <p14:creationId xmlns:p14="http://schemas.microsoft.com/office/powerpoint/2010/main" val="22364362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18</TotalTime>
  <Words>254</Words>
  <Application>Microsoft Office PowerPoint</Application>
  <PresentationFormat>Widescreen</PresentationFormat>
  <Paragraphs>50</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Century Gothic</vt:lpstr>
      <vt:lpstr>Courier New</vt:lpstr>
      <vt:lpstr>Impact</vt:lpstr>
      <vt:lpstr>Symbol</vt:lpstr>
      <vt:lpstr>Times New Roman</vt:lpstr>
      <vt:lpstr>Wingdings 3</vt:lpstr>
      <vt:lpstr>Ion</vt:lpstr>
      <vt:lpstr>Chili Leaf Health Classification</vt:lpstr>
      <vt:lpstr>Introduction</vt:lpstr>
      <vt:lpstr>Objective</vt:lpstr>
      <vt:lpstr>Dataset</vt:lpstr>
      <vt:lpstr>Methodology</vt:lpstr>
      <vt:lpstr>Model Architecture</vt:lpstr>
      <vt:lpstr>Training Process</vt:lpstr>
      <vt:lpstr>Results</vt:lpstr>
      <vt:lpstr>Conclusion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Chili Leaf Health Classification</dc:title>
  <dc:creator>ANAS MUKHTAR</dc:creator>
  <cp:lastModifiedBy>ANAS MUKHTAR</cp:lastModifiedBy>
  <cp:revision>2</cp:revision>
  <dcterms:created xsi:type="dcterms:W3CDTF">2026-01-30T12:24:05Z</dcterms:created>
  <dcterms:modified xsi:type="dcterms:W3CDTF">2026-01-30T12:42:34Z</dcterms:modified>
</cp:coreProperties>
</file>